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9" r:id="rId3"/>
    <p:sldId id="260" r:id="rId4"/>
    <p:sldId id="261" r:id="rId5"/>
    <p:sldId id="262" r:id="rId6"/>
    <p:sldId id="263" r:id="rId7"/>
    <p:sldId id="271" r:id="rId8"/>
    <p:sldId id="264" r:id="rId9"/>
    <p:sldId id="265" r:id="rId10"/>
    <p:sldId id="267" r:id="rId11"/>
    <p:sldId id="268" r:id="rId12"/>
    <p:sldId id="270" r:id="rId13"/>
  </p:sldIdLst>
  <p:sldSz cx="12192000" cy="6858000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iRs8jnCq7dUwYbkcHa2SHPnCa0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-710" y="-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6223704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4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18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19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2400"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19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dt" idx="10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20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20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20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20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1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2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21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21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21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22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22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22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22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22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22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22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22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22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3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3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23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23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23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23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23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3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24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4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24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2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2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24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24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4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25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25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25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25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25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2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2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26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8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204.09075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abs/2109.00537" TargetMode="External"/><Relationship Id="rId5" Type="http://schemas.openxmlformats.org/officeDocument/2006/relationships/hyperlink" Target="https://arxiv.org/abs/2505.03451" TargetMode="External"/><Relationship Id="rId4" Type="http://schemas.openxmlformats.org/officeDocument/2006/relationships/hyperlink" Target="https://doi.org/10.1109/ICCCNT49239.2020.9225561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27" name="Google Shape;127;p1" descr="A building with a roof&#10;&#10;Description automatically generated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21879" y="1067010"/>
            <a:ext cx="11421075" cy="3894085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28" name="Google Shape;128;p1"/>
          <p:cNvSpPr/>
          <p:nvPr/>
        </p:nvSpPr>
        <p:spPr>
          <a:xfrm>
            <a:off x="349046" y="4567756"/>
            <a:ext cx="11493908" cy="1337410"/>
          </a:xfrm>
          <a:prstGeom prst="roundRect">
            <a:avLst>
              <a:gd name="adj" fmla="val 16667"/>
            </a:avLst>
          </a:prstGeom>
          <a:solidFill>
            <a:srgbClr val="002060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32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Trust Layer: </a:t>
            </a:r>
            <a:r>
              <a:rPr lang="en-US" sz="3200" b="1" dirty="0" smtClean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AI-Driven </a:t>
            </a:r>
            <a:r>
              <a:rPr lang="en-US" sz="3200" b="1" dirty="0">
                <a:solidFill>
                  <a:srgbClr val="FF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Fraud Prevention Across Web, Voice, and Payments</a:t>
            </a:r>
            <a:endParaRPr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IN" sz="2000" b="1" dirty="0" smtClean="0"/>
              <a:t>Overview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000" dirty="0" smtClean="0"/>
              <a:t>Trust Layer is an AI-assisted security system built around one idea: before a user clicks a link, scans a QR code, answers a call, or accepts a payment screenshot as proof, the system checks whether what's being presented matches what it claims to be. It combines a browser extension, an Android module for real-time AI-voice detection on phone calls, and a payment-screenshot verifier — all built on the same underlying principle of consistency checking rather than static </a:t>
            </a:r>
            <a:r>
              <a:rPr lang="en-US" sz="2000" dirty="0" err="1" smtClean="0"/>
              <a:t>blocklists</a:t>
            </a:r>
            <a:r>
              <a:rPr lang="en-US" sz="2000" dirty="0" smtClean="0"/>
              <a:t>, so it can catch novel attacks that signature-based tools miss.</a:t>
            </a:r>
          </a:p>
          <a:p>
            <a:pPr marL="0" indent="0">
              <a:spcBef>
                <a:spcPts val="0"/>
              </a:spcBef>
              <a:buNone/>
            </a:pPr>
            <a:endParaRPr lang="en-US" sz="2000" dirty="0" smtClean="0"/>
          </a:p>
          <a:p>
            <a:pPr marL="0" lvl="0" indent="0" algn="ctr">
              <a:spcBef>
                <a:spcPts val="0"/>
              </a:spcBef>
              <a:buNone/>
            </a:pPr>
            <a:endParaRPr lang="en-US" sz="2000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en-IN" sz="2000" b="1" dirty="0" smtClean="0"/>
              <a:t>Importance </a:t>
            </a:r>
            <a:r>
              <a:rPr lang="en-IN" sz="2000" b="1" dirty="0"/>
              <a:t>of the topic:</a:t>
            </a:r>
            <a:r>
              <a:rPr lang="en-IN" sz="2000" dirty="0"/>
              <a:t> </a:t>
            </a:r>
            <a:endParaRPr lang="en-IN" sz="2000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en-US" sz="1900" dirty="0"/>
              <a:t>UPI-related fraud crossed 13.4 lakh reported cases in FY 2023-24 alone, with losses exceeding ₹1,087 crore, and AI voice cloning has made the threat harder to spot — around 69% of people cannot tell a cloned voice from a real one. In one recent case, an Indore resident lost ₹1.83 lakh after scammers used an AI-cloned voice of his relative to fake a legal emergency. Existing tools treat phishing, voice fraud, and payment fraud as separate problems; Trust Layer addresses them as one.</a:t>
            </a:r>
            <a:endParaRPr sz="1900" dirty="0"/>
          </a:p>
        </p:txBody>
      </p:sp>
      <p:sp>
        <p:nvSpPr>
          <p:cNvPr id="152" name="Google Shape;152;p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61" name="Google Shape;161;p6"/>
          <p:cNvSpPr txBox="1"/>
          <p:nvPr/>
        </p:nvSpPr>
        <p:spPr>
          <a:xfrm>
            <a:off x="1710268" y="89747"/>
            <a:ext cx="9939866" cy="943186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391796"/>
              </p:ext>
            </p:extLst>
          </p:nvPr>
        </p:nvGraphicFramePr>
        <p:xfrm>
          <a:off x="715375" y="1264920"/>
          <a:ext cx="10761251" cy="4328160"/>
        </p:xfrm>
        <a:graphic>
          <a:graphicData uri="http://schemas.openxmlformats.org/drawingml/2006/table">
            <a:tbl>
              <a:tblPr firstRow="1" bandRow="1"/>
              <a:tblGrid>
                <a:gridCol w="2312821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27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50412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341591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32895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600" dirty="0"/>
                        <a:t>Name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600" dirty="0"/>
                        <a:t>Date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600" dirty="0"/>
                        <a:t>Summary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1" i="0" u="none" strike="noStrike" cap="none">
                          <a:solidFill>
                            <a:schemeClr val="lt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600" dirty="0"/>
                        <a:t>Link</a:t>
                      </a: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1772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s-ES" dirty="0" err="1" smtClean="0"/>
                        <a:t>Korkmaz</a:t>
                      </a:r>
                      <a:r>
                        <a:rPr lang="es-ES" dirty="0" smtClean="0"/>
                        <a:t>, M., </a:t>
                      </a:r>
                      <a:r>
                        <a:rPr lang="es-ES" dirty="0" err="1" smtClean="0"/>
                        <a:t>Sahingoz</a:t>
                      </a:r>
                      <a:r>
                        <a:rPr lang="es-ES" dirty="0" smtClean="0"/>
                        <a:t>, O. K., &amp; </a:t>
                      </a:r>
                      <a:r>
                        <a:rPr lang="es-ES" dirty="0" err="1" smtClean="0"/>
                        <a:t>Diri</a:t>
                      </a:r>
                      <a:r>
                        <a:rPr lang="es-ES" dirty="0" smtClean="0"/>
                        <a:t>, B.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400" dirty="0" smtClean="0"/>
                        <a:t>202</a:t>
                      </a:r>
                      <a:r>
                        <a:rPr lang="en-US" sz="1400" dirty="0" smtClean="0"/>
                        <a:t>0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dirty="0" smtClean="0"/>
                        <a:t>Proposes a machine-learning phishing detection system using eight algorithms trained on lexical and host-based URL features across three datasets, showing strong classification performance for identifying phishing websites from URL structure alone.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IN" sz="1000" dirty="0" smtClean="0"/>
                        <a:t>https://doi.org/10.1109/ICCCNT49239.2020.9225561</a:t>
                      </a:r>
                      <a:endParaRPr sz="1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1772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IN" dirty="0" err="1" smtClean="0"/>
                        <a:t>Trad</a:t>
                      </a:r>
                      <a:r>
                        <a:rPr lang="en-IN" dirty="0" smtClean="0"/>
                        <a:t>, F., &amp; </a:t>
                      </a:r>
                      <a:r>
                        <a:rPr lang="en-IN" dirty="0" err="1" smtClean="0"/>
                        <a:t>Chehab</a:t>
                      </a:r>
                      <a:r>
                        <a:rPr lang="en-IN" dirty="0" smtClean="0"/>
                        <a:t>, A.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400" dirty="0" smtClean="0"/>
                        <a:t>202</a:t>
                      </a:r>
                      <a:r>
                        <a:rPr lang="en-US" sz="1400" dirty="0" smtClean="0"/>
                        <a:t>5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dirty="0" smtClean="0"/>
                        <a:t>Introduces the first framework for detecting QR-code phishing ("</a:t>
                      </a:r>
                      <a:r>
                        <a:rPr lang="en-US" dirty="0" err="1" smtClean="0"/>
                        <a:t>quishing</a:t>
                      </a:r>
                      <a:r>
                        <a:rPr lang="en-US" dirty="0" smtClean="0"/>
                        <a:t>") by analyzing the QR code's structural/pixel patterns directly, without decoding the embedded URL — avoiding the risk of exposing the user to malicious content during analysis. Achieves strong detection performance using </a:t>
                      </a:r>
                      <a:r>
                        <a:rPr lang="en-US" dirty="0" err="1" smtClean="0"/>
                        <a:t>XGBoost</a:t>
                      </a:r>
                      <a:r>
                        <a:rPr lang="en-US" dirty="0" smtClean="0"/>
                        <a:t>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IN" sz="1000" dirty="0" smtClean="0"/>
                        <a:t>https://arxiv.org/abs/2505.03451</a:t>
                      </a:r>
                      <a:endParaRPr sz="1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17729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it-IT" dirty="0" smtClean="0"/>
                        <a:t>Yamagishi, J., Wang, X., Todisco, M., et al.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400" dirty="0" smtClean="0"/>
                        <a:t>202</a:t>
                      </a:r>
                      <a:r>
                        <a:rPr lang="en-US" sz="1400" dirty="0" smtClean="0"/>
                        <a:t>1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dirty="0" smtClean="0"/>
                        <a:t>Describes the </a:t>
                      </a:r>
                      <a:r>
                        <a:rPr lang="en-US" dirty="0" err="1" smtClean="0"/>
                        <a:t>ASVspoof</a:t>
                      </a:r>
                      <a:r>
                        <a:rPr lang="en-US" dirty="0" smtClean="0"/>
                        <a:t> 2021 challenge, the standard benchmark for detecting synthetic, converted, and </a:t>
                      </a:r>
                      <a:r>
                        <a:rPr lang="en-US" dirty="0" err="1" smtClean="0"/>
                        <a:t>deepfake</a:t>
                      </a:r>
                      <a:r>
                        <a:rPr lang="en-US" dirty="0" smtClean="0"/>
                        <a:t> speech; introduces a dedicated "</a:t>
                      </a:r>
                      <a:r>
                        <a:rPr lang="en-US" dirty="0" err="1" smtClean="0"/>
                        <a:t>deepfake</a:t>
                      </a:r>
                      <a:r>
                        <a:rPr lang="en-US" dirty="0" smtClean="0"/>
                        <a:t> speech" detection task and evaluates countermeasure robustness across many participating systems.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IN" sz="1000" dirty="0" smtClean="0"/>
                        <a:t>https://arxiv.org/abs/2109.00537</a:t>
                      </a:r>
                      <a:endParaRPr sz="1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508391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s-ES" dirty="0" err="1" smtClean="0"/>
                        <a:t>Gupta</a:t>
                      </a:r>
                      <a:r>
                        <a:rPr lang="es-ES" dirty="0" smtClean="0"/>
                        <a:t>, A., </a:t>
                      </a:r>
                      <a:r>
                        <a:rPr lang="es-ES" dirty="0" err="1" smtClean="0"/>
                        <a:t>Joshi</a:t>
                      </a:r>
                      <a:r>
                        <a:rPr lang="es-ES" dirty="0" smtClean="0"/>
                        <a:t>, R., &amp; </a:t>
                      </a:r>
                      <a:r>
                        <a:rPr lang="es-ES" dirty="0" err="1" smtClean="0"/>
                        <a:t>Laban</a:t>
                      </a:r>
                      <a:r>
                        <a:rPr lang="es-ES" dirty="0" smtClean="0"/>
                        <a:t>, R.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sz="1400" dirty="0" smtClean="0"/>
                        <a:t>202</a:t>
                      </a:r>
                      <a:r>
                        <a:rPr lang="en-US" sz="1400" dirty="0" smtClean="0"/>
                        <a:t>2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US" dirty="0" smtClean="0"/>
                        <a:t>Combines Error Level Analysis (ELA) with a Convolutional Neural Network to detect tool-edited/tampered images, showing that compression-artifact patterns from ELA are strong input features for a forgery classifier.</a:t>
                      </a:r>
                      <a:endParaRPr sz="1400" dirty="0"/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dk1"/>
                          </a:solidFill>
                          <a:latin typeface="Calibri"/>
                          <a:sym typeface="Arial"/>
                        </a:defRPr>
                      </a:lvl9pPr>
                    </a:lstStyle>
                    <a:p>
                      <a:r>
                        <a:rPr lang="en-IN" sz="1000" dirty="0" smtClean="0"/>
                        <a:t>https://arxiv.org/abs/2204.09075</a:t>
                      </a:r>
                      <a:endParaRPr sz="1000" dirty="0">
                        <a:solidFill>
                          <a:srgbClr val="002060"/>
                        </a:solidFill>
                      </a:endParaRPr>
                    </a:p>
                  </a:txBody>
                  <a:tcPr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B9BD5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body" idx="1"/>
          </p:nvPr>
        </p:nvSpPr>
        <p:spPr>
          <a:xfrm>
            <a:off x="174813" y="1076325"/>
            <a:ext cx="11842377" cy="56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dirty="0"/>
              <a:t>Users cannot reliably verify the authenticity of links, QR codes, phone calls, or payment proofs before acting on them, leaving them exposed to phishing, voice-cloning, and payment fraud that current tools detect only after the fact, if at all. A unified, pre-action verification system is needed to close this gap before financial or personal harm occurs</a:t>
            </a:r>
            <a:r>
              <a:rPr lang="en-US" sz="2400" dirty="0" smtClean="0"/>
              <a:t>.</a:t>
            </a:r>
          </a:p>
          <a:p>
            <a:pPr marL="0" lvl="0" indent="0">
              <a:spcBef>
                <a:spcPts val="0"/>
              </a:spcBef>
              <a:buNone/>
            </a:pPr>
            <a:endParaRPr lang="en-US" sz="2400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en-IN" sz="2000" b="1" dirty="0" smtClean="0"/>
              <a:t>Significance of Addressing the Problem:</a:t>
            </a:r>
          </a:p>
          <a:p>
            <a:pPr marL="342900" indent="-342900">
              <a:spcBef>
                <a:spcPts val="0"/>
              </a:spcBef>
            </a:pPr>
            <a:r>
              <a:rPr lang="en-US" sz="2000" dirty="0"/>
              <a:t>Financial and psychological harm from these scams disproportionately affects less tech-savvy users — elderly people, first-time UPI users, small </a:t>
            </a:r>
            <a:r>
              <a:rPr lang="en-US" sz="2000" dirty="0" smtClean="0"/>
              <a:t>sellers.</a:t>
            </a:r>
          </a:p>
          <a:p>
            <a:pPr marL="342900" indent="-342900">
              <a:spcBef>
                <a:spcPts val="0"/>
              </a:spcBef>
            </a:pPr>
            <a:r>
              <a:rPr lang="en-US" sz="2000" dirty="0" smtClean="0"/>
              <a:t>The </a:t>
            </a:r>
            <a:r>
              <a:rPr lang="en-US" sz="2000" dirty="0"/>
              <a:t>gap between fraud sophistication and user awareness will keep widening as generative AI </a:t>
            </a:r>
            <a:r>
              <a:rPr lang="en-US" sz="2000" dirty="0" smtClean="0"/>
              <a:t>improves.</a:t>
            </a:r>
          </a:p>
          <a:p>
            <a:pPr marL="342900" indent="-342900">
              <a:spcBef>
                <a:spcPts val="0"/>
              </a:spcBef>
            </a:pPr>
            <a:r>
              <a:rPr lang="en-US" sz="2000" dirty="0" smtClean="0"/>
              <a:t>No </a:t>
            </a:r>
            <a:r>
              <a:rPr lang="en-US" sz="2000" dirty="0"/>
              <a:t>existing consumer tool unifies detection across web, voice, and payment surfaces under one investigative framework.</a:t>
            </a:r>
            <a:endParaRPr lang="en-IN" sz="2000" b="1" dirty="0" smtClean="0"/>
          </a:p>
        </p:txBody>
      </p:sp>
      <p:sp>
        <p:nvSpPr>
          <p:cNvPr id="168" name="Google Shape;168;p7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69" name="Google Shape;169;p7"/>
          <p:cNvSpPr txBox="1"/>
          <p:nvPr/>
        </p:nvSpPr>
        <p:spPr>
          <a:xfrm>
            <a:off x="1503705" y="0"/>
            <a:ext cx="10227733" cy="1076325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Definition</a:t>
            </a:r>
            <a:endParaRPr sz="36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body" idx="1"/>
          </p:nvPr>
        </p:nvSpPr>
        <p:spPr>
          <a:xfrm>
            <a:off x="342900" y="1258282"/>
            <a:ext cx="11496675" cy="545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None/>
            </a:pPr>
            <a:r>
              <a:rPr lang="en-US" sz="2400" dirty="0"/>
              <a:t>To design and implement an AI-assisted, pre-action verification system that helps users assess the trustworthiness of links, QR codes, phone calls, and payment proofs before they act on them. The system aims to combine rule-based and machine-learning detection to flag potential fraud in real time, while explaining its reasoning in plain language the user can act on</a:t>
            </a:r>
            <a:r>
              <a:rPr lang="en-US" sz="2400" dirty="0" smtClean="0"/>
              <a:t>.</a:t>
            </a:r>
            <a:endParaRPr lang="en-US" sz="2400" dirty="0"/>
          </a:p>
          <a:p>
            <a:pPr marL="0" lvl="0" indent="0">
              <a:spcBef>
                <a:spcPts val="0"/>
              </a:spcBef>
              <a:buNone/>
            </a:pPr>
            <a:endParaRPr lang="en-US" sz="2400" dirty="0" smtClean="0"/>
          </a:p>
          <a:p>
            <a:pPr marL="0" lvl="0" indent="0">
              <a:spcBef>
                <a:spcPts val="0"/>
              </a:spcBef>
              <a:buNone/>
            </a:pPr>
            <a:r>
              <a:rPr lang="en-IN" sz="2000" b="1" dirty="0" smtClean="0"/>
              <a:t>Specific </a:t>
            </a:r>
            <a:r>
              <a:rPr lang="en-IN" sz="2000" b="1" dirty="0"/>
              <a:t>Objectives</a:t>
            </a:r>
            <a:r>
              <a:rPr lang="en-IN" sz="2000" b="1" dirty="0" smtClean="0"/>
              <a:t>:</a:t>
            </a:r>
          </a:p>
          <a:p>
            <a:pPr indent="-457200">
              <a:spcBef>
                <a:spcPts val="0"/>
              </a:spcBef>
            </a:pPr>
            <a:r>
              <a:rPr lang="en-US" sz="2000" dirty="0"/>
              <a:t>Detect phishing and impersonation attempts in real time by analyzing redirect chains and brand-vs-domain </a:t>
            </a:r>
            <a:r>
              <a:rPr lang="en-US" sz="2000" dirty="0" smtClean="0"/>
              <a:t>mismatches.</a:t>
            </a:r>
          </a:p>
          <a:p>
            <a:pPr indent="-457200">
              <a:spcBef>
                <a:spcPts val="0"/>
              </a:spcBef>
            </a:pPr>
            <a:r>
              <a:rPr lang="en-US" sz="2000" dirty="0" smtClean="0"/>
              <a:t>Build </a:t>
            </a:r>
            <a:r>
              <a:rPr lang="en-US" sz="2000" dirty="0"/>
              <a:t>a real-time voice analysis module that flags AI-generated/cloned speech during live phone </a:t>
            </a:r>
            <a:r>
              <a:rPr lang="en-US" sz="2000" dirty="0" smtClean="0"/>
              <a:t>calls.</a:t>
            </a:r>
          </a:p>
          <a:p>
            <a:pPr indent="-457200">
              <a:spcBef>
                <a:spcPts val="0"/>
              </a:spcBef>
            </a:pPr>
            <a:r>
              <a:rPr lang="en-US" sz="2000" dirty="0" smtClean="0"/>
              <a:t>Develop </a:t>
            </a:r>
            <a:r>
              <a:rPr lang="en-US" sz="2000" dirty="0"/>
              <a:t>a Payment Proof Verifier that detects tampered UPI/bank payment screenshots using compression and layout </a:t>
            </a:r>
            <a:r>
              <a:rPr lang="en-US" sz="2000" dirty="0" smtClean="0"/>
              <a:t>analysis.</a:t>
            </a:r>
          </a:p>
          <a:p>
            <a:pPr indent="-457200">
              <a:spcBef>
                <a:spcPts val="0"/>
              </a:spcBef>
            </a:pPr>
            <a:r>
              <a:rPr lang="en-US" sz="2000" dirty="0" smtClean="0"/>
              <a:t>Present </a:t>
            </a:r>
            <a:r>
              <a:rPr lang="en-US" sz="2000" dirty="0"/>
              <a:t>findings as clear, plain-language explanations rather than opaque risk scores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176" name="Google Shape;176;p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77" name="Google Shape;177;p8"/>
          <p:cNvSpPr txBox="1"/>
          <p:nvPr/>
        </p:nvSpPr>
        <p:spPr>
          <a:xfrm>
            <a:off x="2191229" y="0"/>
            <a:ext cx="8146571" cy="1032933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174811" y="1069220"/>
            <a:ext cx="11842377" cy="52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r>
              <a:rPr lang="en-US" b="1" dirty="0"/>
              <a:t>Design:</a:t>
            </a:r>
            <a:r>
              <a:rPr lang="en-US" dirty="0"/>
              <a:t> Trust Layer uses a client-server architecture — a Chrome extension (browser checks) and an Android app (calls/payments) as lightweight clients, both calling a shared backend that runs the detection logic centrally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QR Guardian:</a:t>
            </a:r>
            <a:r>
              <a:rPr lang="en-US" dirty="0"/>
              <a:t> Client-side camera/image capture decodes the QR payload locally (no data sent until </a:t>
            </a:r>
            <a:r>
              <a:rPr lang="en-US" dirty="0" smtClean="0"/>
              <a:t>decoding</a:t>
            </a:r>
            <a:r>
              <a:rPr lang="en-US" dirty="0"/>
              <a:t>); the resulting URL is routed into the same backend pipeline used for regular </a:t>
            </a:r>
            <a:r>
              <a:rPr lang="en-US" dirty="0" smtClean="0"/>
              <a:t>links.</a:t>
            </a:r>
          </a:p>
          <a:p>
            <a:pPr lvl="1"/>
            <a:r>
              <a:rPr lang="en-US" b="1" dirty="0" smtClean="0"/>
              <a:t>Redirect </a:t>
            </a:r>
            <a:r>
              <a:rPr lang="en-US" b="1" dirty="0"/>
              <a:t>X-Ray:</a:t>
            </a:r>
            <a:r>
              <a:rPr lang="en-US" dirty="0"/>
              <a:t> Backend traces the destination URL hop-by-hop via HTTP requests (without rendering), logging each redirect to reconstruct the full chain before it reaches the user's </a:t>
            </a:r>
            <a:r>
              <a:rPr lang="en-US" dirty="0" smtClean="0"/>
              <a:t>browser.</a:t>
            </a:r>
          </a:p>
          <a:p>
            <a:pPr lvl="1"/>
            <a:r>
              <a:rPr lang="en-US" b="1" dirty="0" smtClean="0"/>
              <a:t>Impersonation </a:t>
            </a:r>
            <a:r>
              <a:rPr lang="en-US" b="1" dirty="0"/>
              <a:t>Radar:</a:t>
            </a:r>
            <a:r>
              <a:rPr lang="en-US" dirty="0"/>
              <a:t> Backend performs a safe, script-free HTML fetch of the destination, extracts claimed branding (title/meta tags), and compares it against a curated list of known official domains using string-similarity </a:t>
            </a:r>
            <a:r>
              <a:rPr lang="en-US" dirty="0" smtClean="0"/>
              <a:t>matching.</a:t>
            </a:r>
          </a:p>
          <a:p>
            <a:pPr lvl="1"/>
            <a:r>
              <a:rPr lang="en-US" b="1" dirty="0" smtClean="0"/>
              <a:t>Real-Time </a:t>
            </a:r>
            <a:r>
              <a:rPr lang="en-US" b="1" dirty="0"/>
              <a:t>Voice Detection:</a:t>
            </a:r>
            <a:r>
              <a:rPr lang="en-US" dirty="0"/>
              <a:t> A standalone Android module captures call audio via speakerphone/microphone, extracts MFCC features from rolling audio chunks, and classifies them using a model trained on the </a:t>
            </a:r>
            <a:r>
              <a:rPr lang="en-US" dirty="0" err="1"/>
              <a:t>ASVspoof</a:t>
            </a:r>
            <a:r>
              <a:rPr lang="en-US" dirty="0"/>
              <a:t> dataset to flag likely AI-generated </a:t>
            </a:r>
            <a:r>
              <a:rPr lang="en-US" dirty="0" smtClean="0"/>
              <a:t>speech.</a:t>
            </a:r>
          </a:p>
          <a:p>
            <a:pPr lvl="1"/>
            <a:r>
              <a:rPr lang="en-US" b="1" dirty="0" smtClean="0"/>
              <a:t>Payment </a:t>
            </a:r>
            <a:r>
              <a:rPr lang="en-US" b="1" dirty="0"/>
              <a:t>Proof Verifier:</a:t>
            </a:r>
            <a:r>
              <a:rPr lang="en-US" dirty="0"/>
              <a:t> Uploaded payment screenshots are analyzed through Error Level Analysis (to detect recompression artifacts from editing), OCR-based field extraction (amount, UPI ID, transaction ID), and layout comparison against known payment-app templates.</a:t>
            </a:r>
          </a:p>
          <a:p>
            <a:r>
              <a:rPr lang="en-US" b="1" dirty="0" smtClean="0"/>
              <a:t>Data </a:t>
            </a:r>
            <a:r>
              <a:rPr lang="en-US" b="1" dirty="0"/>
              <a:t>collection </a:t>
            </a:r>
            <a:r>
              <a:rPr lang="en-US" b="1" dirty="0" smtClean="0"/>
              <a:t>methods:</a:t>
            </a:r>
            <a:endParaRPr lang="en-US" dirty="0"/>
          </a:p>
          <a:p>
            <a:pPr lvl="1"/>
            <a:r>
              <a:rPr lang="en-IN" b="1" dirty="0" smtClean="0"/>
              <a:t>Links/QR</a:t>
            </a:r>
            <a:r>
              <a:rPr lang="en-IN" b="1" dirty="0"/>
              <a:t>:</a:t>
            </a:r>
            <a:r>
              <a:rPr lang="en-IN" dirty="0"/>
              <a:t> </a:t>
            </a:r>
            <a:r>
              <a:rPr lang="en-IN" dirty="0" err="1"/>
              <a:t>PhiUSIIL</a:t>
            </a:r>
            <a:r>
              <a:rPr lang="en-IN" dirty="0"/>
              <a:t> Phishing URL Dataset (or </a:t>
            </a:r>
            <a:r>
              <a:rPr lang="en-IN" dirty="0" err="1"/>
              <a:t>PhishTank</a:t>
            </a:r>
            <a:r>
              <a:rPr lang="en-IN" dirty="0"/>
              <a:t> + </a:t>
            </a:r>
            <a:r>
              <a:rPr lang="en-IN" dirty="0" err="1" smtClean="0"/>
              <a:t>Tranco</a:t>
            </a:r>
            <a:r>
              <a:rPr lang="en-IN" dirty="0" smtClean="0"/>
              <a:t>)</a:t>
            </a:r>
          </a:p>
          <a:p>
            <a:pPr lvl="1"/>
            <a:r>
              <a:rPr lang="en-IN" b="1" dirty="0" smtClean="0"/>
              <a:t>Voice </a:t>
            </a:r>
            <a:r>
              <a:rPr lang="en-IN" b="1" dirty="0"/>
              <a:t>Detection:</a:t>
            </a:r>
            <a:r>
              <a:rPr lang="en-IN" dirty="0"/>
              <a:t> </a:t>
            </a:r>
            <a:r>
              <a:rPr lang="en-IN" dirty="0" err="1"/>
              <a:t>ASVspoof</a:t>
            </a:r>
            <a:r>
              <a:rPr lang="en-IN" dirty="0"/>
              <a:t>, re-recorded through your speaker-mic demo </a:t>
            </a:r>
            <a:r>
              <a:rPr lang="en-IN" dirty="0" smtClean="0"/>
              <a:t>setup</a:t>
            </a:r>
          </a:p>
          <a:p>
            <a:pPr lvl="1"/>
            <a:r>
              <a:rPr lang="en-IN" b="1" dirty="0" smtClean="0"/>
              <a:t>Payment </a:t>
            </a:r>
            <a:r>
              <a:rPr lang="en-IN" b="1" dirty="0"/>
              <a:t>Verifier:</a:t>
            </a:r>
            <a:r>
              <a:rPr lang="en-IN" dirty="0"/>
              <a:t> self-collected genuine + edited UPI/bank screenshots (optionally CASIA for extra tamper-detection data)</a:t>
            </a:r>
            <a:endParaRPr lang="en-US" dirty="0"/>
          </a:p>
          <a:p>
            <a:r>
              <a:rPr lang="en-US" b="1" dirty="0" smtClean="0"/>
              <a:t>Tools </a:t>
            </a:r>
            <a:r>
              <a:rPr lang="en-US" b="1" dirty="0"/>
              <a:t>and resources used:</a:t>
            </a:r>
            <a:r>
              <a:rPr lang="en-US" dirty="0"/>
              <a:t> Chrome Extension APIs (Manifest V3), Python (</a:t>
            </a:r>
            <a:r>
              <a:rPr lang="en-US" dirty="0" err="1"/>
              <a:t>scikit</a:t>
            </a:r>
            <a:r>
              <a:rPr lang="en-US" dirty="0"/>
              <a:t>-learn) for model training, Android SDK for the voice-detection module, </a:t>
            </a:r>
            <a:r>
              <a:rPr lang="en-US" dirty="0" err="1"/>
              <a:t>OpenCV</a:t>
            </a:r>
            <a:r>
              <a:rPr lang="en-US" dirty="0"/>
              <a:t>/PIL for image forensics (ELA), and public datasets referenced in the literature review.</a:t>
            </a:r>
          </a:p>
        </p:txBody>
      </p:sp>
      <p:sp>
        <p:nvSpPr>
          <p:cNvPr id="184" name="Google Shape;184;p9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9"/>
          <p:cNvSpPr txBox="1">
            <a:spLocks noGrp="1"/>
          </p:cNvSpPr>
          <p:nvPr>
            <p:ph type="body" idx="1"/>
          </p:nvPr>
        </p:nvSpPr>
        <p:spPr>
          <a:xfrm>
            <a:off x="174811" y="1069220"/>
            <a:ext cx="11842377" cy="52779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b="1" dirty="0"/>
              <a:t>Data analysis techniques:</a:t>
            </a:r>
            <a:endParaRPr lang="en-US" dirty="0"/>
          </a:p>
          <a:p>
            <a:pPr lvl="1"/>
            <a:r>
              <a:rPr lang="en-US" b="1" dirty="0"/>
              <a:t>Link/URL detection:</a:t>
            </a:r>
            <a:r>
              <a:rPr lang="en-US" dirty="0"/>
              <a:t> classification metrics (accuracy, precision, recall, F1, AUC) on held-out phishing vs. legitimate URLs; compare rule-engine score vs. ML classifier score to measure agreement/divergence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Voice Detection:</a:t>
            </a:r>
            <a:r>
              <a:rPr lang="en-US" dirty="0"/>
              <a:t> accuracy, precision, recall, and Equal Error Rate (EER — the standard </a:t>
            </a:r>
            <a:r>
              <a:rPr lang="en-US" dirty="0" err="1"/>
              <a:t>ASVspoof</a:t>
            </a:r>
            <a:r>
              <a:rPr lang="en-US" dirty="0"/>
              <a:t> metric) on </a:t>
            </a:r>
            <a:r>
              <a:rPr lang="en-US" dirty="0" smtClean="0"/>
              <a:t>held-out </a:t>
            </a:r>
            <a:r>
              <a:rPr lang="en-US" dirty="0"/>
              <a:t>re-recorded test set; separately compare performance on clean vs. speaker-recorded audio to quantify the real-world degradation</a:t>
            </a:r>
            <a:r>
              <a:rPr lang="en-US" dirty="0" smtClean="0"/>
              <a:t>.</a:t>
            </a:r>
          </a:p>
          <a:p>
            <a:pPr lvl="1"/>
            <a:r>
              <a:rPr lang="en-US" b="1" dirty="0"/>
              <a:t>Payment Proof Verifier:</a:t>
            </a:r>
            <a:r>
              <a:rPr lang="en-US" dirty="0"/>
              <a:t> accuracy on </a:t>
            </a:r>
            <a:r>
              <a:rPr lang="en-US" dirty="0" smtClean="0"/>
              <a:t>labeled </a:t>
            </a:r>
            <a:r>
              <a:rPr lang="en-US" dirty="0"/>
              <a:t>genuine-vs-edited screenshot set; also track ELA-region detection rate against manually marked "edited" regions, and OCR field-extraction accuracy (correct amount/UPI ID/transaction ID reads vs. ground truth).</a:t>
            </a:r>
          </a:p>
        </p:txBody>
      </p:sp>
      <p:sp>
        <p:nvSpPr>
          <p:cNvPr id="184" name="Google Shape;184;p9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3842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93" name="Google Shape;193;p10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 dirty="0" smtClean="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Flowchart</a:t>
            </a:r>
            <a:endParaRPr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6598" y="686487"/>
            <a:ext cx="4358804" cy="5614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 txBox="1">
            <a:spLocks noGrp="1"/>
          </p:cNvSpPr>
          <p:nvPr>
            <p:ph type="body" idx="1"/>
          </p:nvPr>
        </p:nvSpPr>
        <p:spPr>
          <a:xfrm>
            <a:off x="247650" y="1117600"/>
            <a:ext cx="11769538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b="1" dirty="0"/>
              <a:t>Expected results:</a:t>
            </a:r>
            <a:r>
              <a:rPr lang="en-US" dirty="0"/>
              <a:t> A working prototype demonstrating real-time detection across three fraud surfaces — a Chrome extension flagging phishing/QR/login risk, an Android module flagging suspected AI-cloned voices on calls, and a verifier flagging tampered payment screenshots — each with measurable accuracy on benchmark datasets.</a:t>
            </a:r>
          </a:p>
          <a:p>
            <a:r>
              <a:rPr lang="en-US" b="1" dirty="0"/>
              <a:t>Potential impact on the field:</a:t>
            </a:r>
            <a:r>
              <a:rPr lang="en-US" dirty="0"/>
              <a:t> Demonstrates that a single "claim vs. reality" detection philosophy can generalize across very different data types (text, audio, image), offering a template for future cross-modal fraud-detection systems rather than single-purpose tools.</a:t>
            </a:r>
          </a:p>
          <a:p>
            <a:r>
              <a:rPr lang="en-US" b="1" dirty="0"/>
              <a:t>Future research directions:</a:t>
            </a:r>
            <a:r>
              <a:rPr lang="en-US" dirty="0"/>
              <a:t> Extending detection to other call platforms and languages, building a shared threat-intelligence layer across users (with privacy safeguards), and exploring adversarial robustness as voice/image generation models improve.</a:t>
            </a:r>
          </a:p>
        </p:txBody>
      </p:sp>
      <p:sp>
        <p:nvSpPr>
          <p:cNvPr id="200" name="Google Shape;200;p1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sp>
        <p:nvSpPr>
          <p:cNvPr id="201" name="Google Shape;201;p11"/>
          <p:cNvSpPr txBox="1"/>
          <p:nvPr/>
        </p:nvSpPr>
        <p:spPr>
          <a:xfrm>
            <a:off x="2284362" y="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Proposed Outcomes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b="1" dirty="0"/>
              <a:t>Summary of key points:</a:t>
            </a:r>
            <a:r>
              <a:rPr lang="en-US" sz="2400" dirty="0"/>
              <a:t> Trust Layer addresses phishing, voice-cloning, and payment fraud through one consistent detection philosophy — checking whether a claim matches reality — rather than treating each as a separate problem.</a:t>
            </a:r>
          </a:p>
          <a:p>
            <a:r>
              <a:rPr lang="en-US" sz="2400" b="1" dirty="0"/>
              <a:t>Final thoughts:</a:t>
            </a:r>
            <a:r>
              <a:rPr lang="en-US" sz="2400" dirty="0"/>
              <a:t> As AI-generated content becomes harder to distinguish from the real thing, the most durable defense isn't a bigger </a:t>
            </a:r>
            <a:r>
              <a:rPr lang="en-US" sz="2400" dirty="0" err="1"/>
              <a:t>blocklist</a:t>
            </a:r>
            <a:r>
              <a:rPr lang="en-US" sz="2400" dirty="0"/>
              <a:t> — it's giving users a fast, explainable way to verify before they trust.</a:t>
            </a:r>
          </a:p>
          <a:p>
            <a:r>
              <a:rPr lang="en-US" sz="2400" b="1" dirty="0"/>
              <a:t>Call to action / next steps:</a:t>
            </a:r>
            <a:r>
              <a:rPr lang="en-US" sz="2400" dirty="0"/>
              <a:t> Complete prototype development for all three modules, validate against benchmark datasets, and pilot the system with a small user group to measure real-world usability and detection accuracy.</a:t>
            </a:r>
          </a:p>
        </p:txBody>
      </p:sp>
      <p:sp>
        <p:nvSpPr>
          <p:cNvPr id="217" name="Google Shape;217;p1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218" name="Google Shape;218;p1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>
            <a:spLocks noGrp="1"/>
          </p:cNvSpPr>
          <p:nvPr>
            <p:ph type="body" idx="1"/>
          </p:nvPr>
        </p:nvSpPr>
        <p:spPr>
          <a:xfrm>
            <a:off x="389467" y="1117600"/>
            <a:ext cx="11192933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IN" sz="1800" dirty="0"/>
              <a:t>Gupta, A., Joshi, R., &amp; Laban, R. (2022). </a:t>
            </a:r>
            <a:r>
              <a:rPr lang="en-IN" sz="1800" i="1" dirty="0"/>
              <a:t>Detection of tool-based edited images from error level analysis and convolutional neural network</a:t>
            </a:r>
            <a:r>
              <a:rPr lang="en-IN" sz="1800" dirty="0"/>
              <a:t>. </a:t>
            </a:r>
            <a:r>
              <a:rPr lang="en-IN" sz="1800" dirty="0" err="1"/>
              <a:t>arXiv</a:t>
            </a:r>
            <a:r>
              <a:rPr lang="en-IN" sz="1800" dirty="0"/>
              <a:t>. </a:t>
            </a:r>
            <a:r>
              <a:rPr lang="en-IN" sz="1800" dirty="0">
                <a:hlinkClick r:id="rId3"/>
              </a:rPr>
              <a:t>https://arxiv.org/abs/2204.09075</a:t>
            </a:r>
            <a:endParaRPr lang="en-IN" sz="1800" dirty="0"/>
          </a:p>
          <a:p>
            <a:r>
              <a:rPr lang="en-IN" sz="1800" dirty="0" err="1"/>
              <a:t>Korkmaz</a:t>
            </a:r>
            <a:r>
              <a:rPr lang="en-IN" sz="1800" dirty="0"/>
              <a:t>, M., </a:t>
            </a:r>
            <a:r>
              <a:rPr lang="en-IN" sz="1800" dirty="0" err="1"/>
              <a:t>Sahingoz</a:t>
            </a:r>
            <a:r>
              <a:rPr lang="en-IN" sz="1800" dirty="0"/>
              <a:t>, O. K., &amp; </a:t>
            </a:r>
            <a:r>
              <a:rPr lang="en-IN" sz="1800" dirty="0" err="1"/>
              <a:t>Diri</a:t>
            </a:r>
            <a:r>
              <a:rPr lang="en-IN" sz="1800" dirty="0"/>
              <a:t>, B. (2020). Detection of phishing websites by using machine learning-based URL analysis. In </a:t>
            </a:r>
            <a:r>
              <a:rPr lang="en-IN" sz="1800" i="1" dirty="0"/>
              <a:t>2020 11th International Conference on Computing, Communication and Networking Technologies (ICCCNT)</a:t>
            </a:r>
            <a:r>
              <a:rPr lang="en-IN" sz="1800" dirty="0"/>
              <a:t> (pp. 1–7). IEEE. </a:t>
            </a:r>
            <a:r>
              <a:rPr lang="en-IN" sz="1800" dirty="0">
                <a:hlinkClick r:id="rId4"/>
              </a:rPr>
              <a:t>https://doi.org/10.1109/ICCCNT49239.2020.9225561</a:t>
            </a:r>
            <a:endParaRPr lang="en-IN" sz="1800" dirty="0"/>
          </a:p>
          <a:p>
            <a:r>
              <a:rPr lang="en-IN" sz="1800" dirty="0" err="1"/>
              <a:t>Trad</a:t>
            </a:r>
            <a:r>
              <a:rPr lang="en-IN" sz="1800" dirty="0"/>
              <a:t>, F., &amp; </a:t>
            </a:r>
            <a:r>
              <a:rPr lang="en-IN" sz="1800" dirty="0" err="1"/>
              <a:t>Chehab</a:t>
            </a:r>
            <a:r>
              <a:rPr lang="en-IN" sz="1800" dirty="0"/>
              <a:t>, A. (2025). </a:t>
            </a:r>
            <a:r>
              <a:rPr lang="en-IN" sz="1800" i="1" dirty="0"/>
              <a:t>Detecting </a:t>
            </a:r>
            <a:r>
              <a:rPr lang="en-IN" sz="1800" i="1" dirty="0" err="1"/>
              <a:t>quishing</a:t>
            </a:r>
            <a:r>
              <a:rPr lang="en-IN" sz="1800" i="1" dirty="0"/>
              <a:t> attacks with machine learning techniques through QR code analysis</a:t>
            </a:r>
            <a:r>
              <a:rPr lang="en-IN" sz="1800" dirty="0"/>
              <a:t>. </a:t>
            </a:r>
            <a:r>
              <a:rPr lang="en-IN" sz="1800" dirty="0" err="1"/>
              <a:t>arXiv</a:t>
            </a:r>
            <a:r>
              <a:rPr lang="en-IN" sz="1800" dirty="0"/>
              <a:t>. </a:t>
            </a:r>
            <a:r>
              <a:rPr lang="en-IN" sz="1800" dirty="0">
                <a:hlinkClick r:id="rId5"/>
              </a:rPr>
              <a:t>https://arxiv.org/abs/2505.03451</a:t>
            </a:r>
            <a:endParaRPr lang="en-IN" sz="1800" dirty="0"/>
          </a:p>
          <a:p>
            <a:r>
              <a:rPr lang="en-IN" sz="1800" dirty="0"/>
              <a:t>Yamagishi, J., Wang, X., Todisco, M., </a:t>
            </a:r>
            <a:r>
              <a:rPr lang="en-IN" sz="1800" dirty="0" err="1"/>
              <a:t>Sahidullah</a:t>
            </a:r>
            <a:r>
              <a:rPr lang="en-IN" sz="1800" dirty="0"/>
              <a:t>, M., </a:t>
            </a:r>
            <a:r>
              <a:rPr lang="en-IN" sz="1800" dirty="0" err="1"/>
              <a:t>Patino</a:t>
            </a:r>
            <a:r>
              <a:rPr lang="en-IN" sz="1800" dirty="0"/>
              <a:t>, J., </a:t>
            </a:r>
            <a:r>
              <a:rPr lang="en-IN" sz="1800" dirty="0" err="1"/>
              <a:t>Nautsch</a:t>
            </a:r>
            <a:r>
              <a:rPr lang="en-IN" sz="1800" dirty="0"/>
              <a:t>, A., Liu, X., Lee, K. A., </a:t>
            </a:r>
            <a:r>
              <a:rPr lang="en-IN" sz="1800" dirty="0" err="1"/>
              <a:t>Kinnunen</a:t>
            </a:r>
            <a:r>
              <a:rPr lang="en-IN" sz="1800" dirty="0"/>
              <a:t>, T., Evans, N., &amp; Delgado, H. (2021). </a:t>
            </a:r>
            <a:r>
              <a:rPr lang="en-IN" sz="1800" i="1" dirty="0" err="1"/>
              <a:t>ASVspoof</a:t>
            </a:r>
            <a:r>
              <a:rPr lang="en-IN" sz="1800" i="1" dirty="0"/>
              <a:t> 2021: Accelerating progress in spoofed and </a:t>
            </a:r>
            <a:r>
              <a:rPr lang="en-IN" sz="1800" i="1" dirty="0" err="1"/>
              <a:t>deepfake</a:t>
            </a:r>
            <a:r>
              <a:rPr lang="en-IN" sz="1800" i="1" dirty="0"/>
              <a:t> speech detection</a:t>
            </a:r>
            <a:r>
              <a:rPr lang="en-IN" sz="1800" dirty="0"/>
              <a:t>. </a:t>
            </a:r>
            <a:r>
              <a:rPr lang="en-IN" sz="1800" dirty="0" err="1"/>
              <a:t>arXiv</a:t>
            </a:r>
            <a:r>
              <a:rPr lang="en-IN" sz="1800" dirty="0"/>
              <a:t>. </a:t>
            </a:r>
            <a:r>
              <a:rPr lang="en-IN" sz="1800" dirty="0">
                <a:hlinkClick r:id="rId6"/>
              </a:rPr>
              <a:t>https://arxiv.org/abs/2109.00537</a:t>
            </a:r>
            <a:endParaRPr lang="en-IN" sz="1800" dirty="0"/>
          </a:p>
        </p:txBody>
      </p:sp>
      <p:sp>
        <p:nvSpPr>
          <p:cNvPr id="226" name="Google Shape;226;p1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27" name="Google Shape;227;p1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pic>
        <p:nvPicPr>
          <p:cNvPr id="243" name="Google Shape;24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1576</Words>
  <Application>Microsoft Office PowerPoint</Application>
  <PresentationFormat>Custom</PresentationFormat>
  <Paragraphs>89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Shanmukha</dc:creator>
  <cp:lastModifiedBy>pkarthik8807@gmail.com</cp:lastModifiedBy>
  <cp:revision>13</cp:revision>
  <dcterms:created xsi:type="dcterms:W3CDTF">2021-06-02T13:10:21Z</dcterms:created>
  <dcterms:modified xsi:type="dcterms:W3CDTF">2026-09-18T08:27:41Z</dcterms:modified>
</cp:coreProperties>
</file>